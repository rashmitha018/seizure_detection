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1" r:id="rId6"/>
    <p:sldId id="264" r:id="rId7"/>
    <p:sldId id="265" r:id="rId8"/>
    <p:sldId id="272" r:id="rId9"/>
    <p:sldId id="266" r:id="rId10"/>
    <p:sldId id="273" r:id="rId11"/>
    <p:sldId id="274" r:id="rId12"/>
    <p:sldId id="270" r:id="rId13"/>
    <p:sldId id="275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xtScfgH2v0T27d13Q8gzvhmp8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E13A7B-E64E-4EDC-90EE-B8503172EE03}">
  <a:tblStyle styleId="{5DE13A7B-E64E-4EDC-90EE-B8503172EE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26EA8CF-7BEB-43CA-99D0-3AD92183EF2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704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bc6ea2aef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2bc6ea2aef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3c51966a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b3c51966a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1F6D8F1-EF8B-16CC-F01E-E68F9FA2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3c51966a9_0_6:notes">
            <a:extLst>
              <a:ext uri="{FF2B5EF4-FFF2-40B4-BE49-F238E27FC236}">
                <a16:creationId xmlns:a16="http://schemas.microsoft.com/office/drawing/2014/main" id="{51841E60-8FE9-1C96-7667-410BC9E3DC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b3c51966a9_0_6:notes">
            <a:extLst>
              <a:ext uri="{FF2B5EF4-FFF2-40B4-BE49-F238E27FC236}">
                <a16:creationId xmlns:a16="http://schemas.microsoft.com/office/drawing/2014/main" id="{2328272B-F3E6-FE87-CBF2-F9B8A3531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335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3c51966a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b3c51966a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3c51966a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b3c51966a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089B8946-85F9-98CD-FD44-F107B7ED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3c51966a9_0_95:notes">
            <a:extLst>
              <a:ext uri="{FF2B5EF4-FFF2-40B4-BE49-F238E27FC236}">
                <a16:creationId xmlns:a16="http://schemas.microsoft.com/office/drawing/2014/main" id="{E530435B-FB01-FC0D-E5C8-7E45749E68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b3c51966a9_0_95:notes">
            <a:extLst>
              <a:ext uri="{FF2B5EF4-FFF2-40B4-BE49-F238E27FC236}">
                <a16:creationId xmlns:a16="http://schemas.microsoft.com/office/drawing/2014/main" id="{D2F81532-BAEA-743B-5F83-4E7365642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822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3c51966a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b3c51966a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6A1E2DBB-C0A2-F562-0342-9113A352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3c51966a9_0_95:notes">
            <a:extLst>
              <a:ext uri="{FF2B5EF4-FFF2-40B4-BE49-F238E27FC236}">
                <a16:creationId xmlns:a16="http://schemas.microsoft.com/office/drawing/2014/main" id="{1C0B49BC-1625-D290-8FF8-2AC9988FA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b3c51966a9_0_95:notes">
            <a:extLst>
              <a:ext uri="{FF2B5EF4-FFF2-40B4-BE49-F238E27FC236}">
                <a16:creationId xmlns:a16="http://schemas.microsoft.com/office/drawing/2014/main" id="{D599BDEB-D276-52F1-FF4E-D07531230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1357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4742CB1F-7768-3243-1001-7729440D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3c51966a9_0_95:notes">
            <a:extLst>
              <a:ext uri="{FF2B5EF4-FFF2-40B4-BE49-F238E27FC236}">
                <a16:creationId xmlns:a16="http://schemas.microsoft.com/office/drawing/2014/main" id="{12F4D511-A38B-6443-9B5B-2DEE732F25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b3c51966a9_0_95:notes">
            <a:extLst>
              <a:ext uri="{FF2B5EF4-FFF2-40B4-BE49-F238E27FC236}">
                <a16:creationId xmlns:a16="http://schemas.microsoft.com/office/drawing/2014/main" id="{0826B7FD-F4D4-977F-6A97-37443DB84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5001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3c51966a9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b3c51966a9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15ACE6DD-5FEE-B80E-9E2C-FA640DBF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3c51966a9_0_136:notes">
            <a:extLst>
              <a:ext uri="{FF2B5EF4-FFF2-40B4-BE49-F238E27FC236}">
                <a16:creationId xmlns:a16="http://schemas.microsoft.com/office/drawing/2014/main" id="{33DD7898-7CDD-4524-64B8-35D8B5078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b3c51966a9_0_136:notes">
            <a:extLst>
              <a:ext uri="{FF2B5EF4-FFF2-40B4-BE49-F238E27FC236}">
                <a16:creationId xmlns:a16="http://schemas.microsoft.com/office/drawing/2014/main" id="{5C88F9A1-238A-0CA7-BCB6-DD1B7020DF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307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63213" y="4730051"/>
            <a:ext cx="2217574" cy="3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391725" y="934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388257" y="0"/>
            <a:ext cx="8551468" cy="464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(EI481P)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- 2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Design and Development of a Low-Power, High-Speed FPGA-Based System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Real-Time Seizure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2000"/>
            </a:pP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Subtitle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cs typeface="Times New Roman"/>
              </a:rPr>
              <a:t>: Simulation Phase — Behavioral Verification Using Vivado XSim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lvl="0" algn="ctr">
              <a:buSzPts val="4000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Guide: Dr. B. G. Sudarshan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                           </a:t>
            </a:r>
            <a:endParaRPr sz="18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56" name="Google Shape;56;p1"/>
          <p:cNvGraphicFramePr/>
          <p:nvPr>
            <p:extLst>
              <p:ext uri="{D42A27DB-BD31-4B8C-83A1-F6EECF244321}">
                <p14:modId xmlns:p14="http://schemas.microsoft.com/office/powerpoint/2010/main" val="1922521028"/>
              </p:ext>
            </p:extLst>
          </p:nvPr>
        </p:nvGraphicFramePr>
        <p:xfrm>
          <a:off x="1193132" y="3179639"/>
          <a:ext cx="7239000" cy="792420"/>
        </p:xfrm>
        <a:graphic>
          <a:graphicData uri="http://schemas.openxmlformats.org/drawingml/2006/table">
            <a:tbl>
              <a:tblPr>
                <a:noFill/>
                <a:tableStyleId>{5DE13A7B-E64E-4EDC-90EE-B8503172EE03}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Rashmitha Rani BN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1RV22EI040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D0D0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297456" y="1150752"/>
            <a:ext cx="7645705" cy="305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98500" marR="0" lvl="0" indent="-55880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04475" y="892385"/>
            <a:ext cx="8542069" cy="1735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Epilepsy is one of the most common neurological disorders, affecting over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million people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worldwide (WHO, 2023).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Seizures are caused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sudden, abnormal electrical discharges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brain.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and accurate detection of seizures is critical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medical intervention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improving patient quality of life.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Electroencephalogram (EEG)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gold standard for monitoring brain electrical activity and detecting epileptic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software-based detection systems suffer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and power consumption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unsuitable for portable, real-time applications.</a:t>
            </a:r>
          </a:p>
        </p:txBody>
      </p:sp>
      <p:sp>
        <p:nvSpPr>
          <p:cNvPr id="63" name="Google Shape;63;p2"/>
          <p:cNvSpPr txBox="1"/>
          <p:nvPr/>
        </p:nvSpPr>
        <p:spPr>
          <a:xfrm>
            <a:off x="2470950" y="322269"/>
            <a:ext cx="4202100" cy="4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83FF62-F305-7419-8AE0-3E9C3B829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300" y="2628101"/>
            <a:ext cx="2414075" cy="2414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bc6ea2aef5_0_4"/>
          <p:cNvSpPr txBox="1"/>
          <p:nvPr/>
        </p:nvSpPr>
        <p:spPr>
          <a:xfrm>
            <a:off x="2054099" y="366448"/>
            <a:ext cx="4610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g2bc6ea2aef5_0_4"/>
          <p:cNvSpPr txBox="1"/>
          <p:nvPr/>
        </p:nvSpPr>
        <p:spPr>
          <a:xfrm>
            <a:off x="314404" y="813778"/>
            <a:ext cx="8515191" cy="3972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000"/>
              </a:lnSpc>
            </a:pPr>
            <a:endParaRPr lang="en-US" b="1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seizure detection systems are predominantly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software-based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(running on CPUs/GPUs), which introduces: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processing latency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(milliseconds to seconds)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power consumption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(unsuitable for wearable/implantable devices)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on operating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(risk of crashes, delays)</a:t>
            </a:r>
          </a:p>
          <a:p>
            <a:pPr>
              <a:lnSpc>
                <a:spcPct val="114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Critical Need: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critical need for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hardware 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process EEG signals in real-time with: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- Ultra-low latency (nanosecond-level response)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- Low power consumption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- Deterministic, always-on operation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c51966a9_0_6"/>
          <p:cNvSpPr txBox="1"/>
          <p:nvPr/>
        </p:nvSpPr>
        <p:spPr>
          <a:xfrm>
            <a:off x="2054099" y="366448"/>
            <a:ext cx="4610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5" name="Google Shape;75;g3b3c51966a9_0_6"/>
          <p:cNvGraphicFramePr/>
          <p:nvPr>
            <p:extLst>
              <p:ext uri="{D42A27DB-BD31-4B8C-83A1-F6EECF244321}">
                <p14:modId xmlns:p14="http://schemas.microsoft.com/office/powerpoint/2010/main" val="1116889524"/>
              </p:ext>
            </p:extLst>
          </p:nvPr>
        </p:nvGraphicFramePr>
        <p:xfrm>
          <a:off x="250375" y="1094180"/>
          <a:ext cx="8492300" cy="3766578"/>
        </p:xfrm>
        <a:graphic>
          <a:graphicData uri="http://schemas.openxmlformats.org/drawingml/2006/table">
            <a:tbl>
              <a:tblPr>
                <a:noFill/>
                <a:tableStyleId>{E26EA8CF-7BEB-43CA-99D0-3AD92183EF27}</a:tableStyleId>
              </a:tblPr>
              <a:tblGrid>
                <a:gridCol w="1234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1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1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9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Author(s)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14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Adeli, H., Zhou, Z., &amp; Dadmehr, N.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2003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Analysis of EEG records in an epileptic patient using wavelet transform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Introduced the use of wavelet transform for EEG analysis, showing that DWT can effectively decompose EEG signals into clinically relevant frequency sub-bands such as delta, theta, alpha, beta, and gamma.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7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Acharya, U.R., et al.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2013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Automated EEG analysis of epilepsy: A review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Provided a comprehensive review of EEG-based seizure detection techniques, highlighting the importance of combining non-linear features (entropy, Hjorth parameters) with time-frequency methods for improved accuracy.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69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Shoka, A., et al.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2023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 Efficient FPGA-Based Approach for Automatic Epileptic Seizure Detection Using EEG Signals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Presented an FPGA implementation using Hjorth descriptors and KNN classifier on Spartan-6, achieving 90.74% accuracy with fast classification and low resource utilization (&lt;10% LUTs).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3235300"/>
                  </a:ext>
                </a:extLst>
              </a:tr>
              <a:tr h="83877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Hossain, K.M., et al.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2023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FPGA-Based Multi-Channel EEG Seizure Detection System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Developed a multi-channel EEG seizure detection system using DWT and SVM on Zynq-7000 FPGA, achieving 88.6% accuracy with efficient processing and moderate power consumption.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98067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CAB8ED6-5AC7-DC35-731A-E5051612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c51966a9_0_6">
            <a:extLst>
              <a:ext uri="{FF2B5EF4-FFF2-40B4-BE49-F238E27FC236}">
                <a16:creationId xmlns:a16="http://schemas.microsoft.com/office/drawing/2014/main" id="{FAF50332-DEC5-BB19-6357-38A6A1D70D5D}"/>
              </a:ext>
            </a:extLst>
          </p:cNvPr>
          <p:cNvSpPr txBox="1"/>
          <p:nvPr/>
        </p:nvSpPr>
        <p:spPr>
          <a:xfrm>
            <a:off x="2054099" y="366448"/>
            <a:ext cx="4610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5" name="Google Shape;75;g3b3c51966a9_0_6">
            <a:extLst>
              <a:ext uri="{FF2B5EF4-FFF2-40B4-BE49-F238E27FC236}">
                <a16:creationId xmlns:a16="http://schemas.microsoft.com/office/drawing/2014/main" id="{42C60C1C-B0E4-226A-659B-CE3AC67F07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5555034"/>
              </p:ext>
            </p:extLst>
          </p:nvPr>
        </p:nvGraphicFramePr>
        <p:xfrm>
          <a:off x="250375" y="1011677"/>
          <a:ext cx="8492300" cy="3994316"/>
        </p:xfrm>
        <a:graphic>
          <a:graphicData uri="http://schemas.openxmlformats.org/drawingml/2006/table">
            <a:tbl>
              <a:tblPr>
                <a:noFill/>
                <a:tableStyleId>{E26EA8CF-7BEB-43CA-99D0-3AD92183EF27}</a:tableStyleId>
              </a:tblPr>
              <a:tblGrid>
                <a:gridCol w="1234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1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1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9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Author(s)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31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Chen, Z., et al.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2024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Wearable Epilepsy Seizure Detection Using Spiking Neural Networks on FPGA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Proposed an ultra-low-power FPGA implementation using spiking neural networks (SNN), achieving very fast inference time (0.5 µs) and extremely low energy consumption, suitable for wearable systems.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38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Daoud, H. &amp; Bhatt, M.A.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2023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Automated Seizure Detection on FPGA Using Artix-7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Demonstrated a threshold-based seizure detection system on Artix-7 FPGA with high accuracy (~98%) and very low power consumption, though with relatively higher detection latency.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002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Rafiee, J., et al.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Wavelet basis functions in biomedical signal processing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Identified Daubechies-4 (db4) as an optimal wavelet for EEG signal analysis due to its superior time-frequency resolution for detecting epileptic patterns.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3235300"/>
                  </a:ext>
                </a:extLst>
              </a:tr>
              <a:tr h="83877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Park, J., et al.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2023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Resource-Optimized DWT on Virtex-7 FPGA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Proposed an optimized DWT architecture using polyphase structure, reducing area and power while improving processing speed for FPGA-based implementations.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9806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96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3c51966a9_0_16"/>
          <p:cNvSpPr txBox="1"/>
          <p:nvPr/>
        </p:nvSpPr>
        <p:spPr>
          <a:xfrm>
            <a:off x="2266650" y="190636"/>
            <a:ext cx="4610700" cy="84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GAPS IN EXISTING SYSTEMS:</a:t>
            </a:r>
          </a:p>
        </p:txBody>
      </p:sp>
      <p:sp>
        <p:nvSpPr>
          <p:cNvPr id="105" name="Google Shape;105;g3b3c51966a9_0_16"/>
          <p:cNvSpPr txBox="1"/>
          <p:nvPr/>
        </p:nvSpPr>
        <p:spPr>
          <a:xfrm>
            <a:off x="668375" y="1143803"/>
            <a:ext cx="8190000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Power-Accuracy Trade-off: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achieving high accuracy often consume more power, while ultra-low-power systems sacrifice detection accuracy.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Multi-channel Support: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implementations process single-channel EEG, limiting clinical utility.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Detection Latency: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Several systems exhibit latencies &gt;3 seconds, which is too slow for responsive neurostimulation.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Adaptability: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Fixed-algorithm implementations cannot adapt to patient-specific seizure patterns.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prior works either use computationally expensive ML models or are implemented purely in software. Our approach balances simplicity, speed, and hardware efficiency.</a:t>
            </a: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3c51966a9_0_21"/>
          <p:cNvSpPr txBox="1"/>
          <p:nvPr/>
        </p:nvSpPr>
        <p:spPr>
          <a:xfrm>
            <a:off x="2054099" y="366448"/>
            <a:ext cx="4610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b3c51966a9_0_21"/>
          <p:cNvSpPr txBox="1"/>
          <p:nvPr/>
        </p:nvSpPr>
        <p:spPr>
          <a:xfrm>
            <a:off x="655200" y="1040576"/>
            <a:ext cx="8190000" cy="340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 design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seizure detection algorithm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hardware implementation.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 implement the algorithm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 HDL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targeting FPGA architecture.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 verify correctness through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simulation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Xilinx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 validate the design using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CHB-MIT Scalp EEG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 clinically recorded, publicly available dataset.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To demonstrate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simulation-first development methodology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hardware deployment on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(Artix-7) FPGA board.</a:t>
            </a:r>
          </a:p>
          <a:p>
            <a:br>
              <a:rPr lang="en-US" dirty="0"/>
            </a:br>
            <a:endParaRPr lang="en-US" dirty="0"/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E2E4EC76-7686-61AA-FEEE-998168BC2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3c51966a9_0_95">
            <a:extLst>
              <a:ext uri="{FF2B5EF4-FFF2-40B4-BE49-F238E27FC236}">
                <a16:creationId xmlns:a16="http://schemas.microsoft.com/office/drawing/2014/main" id="{BF8C2337-2DD1-D7A4-2F76-C38F79EE2F33}"/>
              </a:ext>
            </a:extLst>
          </p:cNvPr>
          <p:cNvSpPr txBox="1"/>
          <p:nvPr/>
        </p:nvSpPr>
        <p:spPr>
          <a:xfrm>
            <a:off x="2054099" y="366448"/>
            <a:ext cx="4610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lang="en-US"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09CCD2-B499-C479-9F5C-B986364D5D96}"/>
              </a:ext>
            </a:extLst>
          </p:cNvPr>
          <p:cNvSpPr txBox="1"/>
          <p:nvPr/>
        </p:nvSpPr>
        <p:spPr>
          <a:xfrm>
            <a:off x="481262" y="996752"/>
            <a:ext cx="8434137" cy="30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patient EEG recordings from CHB-MIT database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(MNE library) → Extract channel → Scale to microvolts → Quantize to 16-bit signed integers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Design: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Verilog HDL module with sliding window algorithm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Vivado XSim behavioral simulation with waveform analysis</a:t>
            </a:r>
          </a:p>
          <a:p>
            <a:pPr>
              <a:lnSpc>
                <a:spcPct val="200000"/>
              </a:lnSpc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889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3c51966a9_0_95"/>
          <p:cNvSpPr txBox="1"/>
          <p:nvPr/>
        </p:nvSpPr>
        <p:spPr>
          <a:xfrm>
            <a:off x="2197898" y="386352"/>
            <a:ext cx="4610700" cy="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lang="en-US"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3FC4FD-26C6-3685-9FA7-59119A006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524" b="11317"/>
          <a:stretch>
            <a:fillRect/>
          </a:stretch>
        </p:blipFill>
        <p:spPr>
          <a:xfrm>
            <a:off x="877305" y="968895"/>
            <a:ext cx="7389390" cy="36576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276833CE-E74B-F0E6-9219-1DAD04AF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3c51966a9_0_95">
            <a:extLst>
              <a:ext uri="{FF2B5EF4-FFF2-40B4-BE49-F238E27FC236}">
                <a16:creationId xmlns:a16="http://schemas.microsoft.com/office/drawing/2014/main" id="{64F02914-6310-840F-B228-E35ABA12404D}"/>
              </a:ext>
            </a:extLst>
          </p:cNvPr>
          <p:cNvSpPr txBox="1"/>
          <p:nvPr/>
        </p:nvSpPr>
        <p:spPr>
          <a:xfrm>
            <a:off x="2054099" y="366448"/>
            <a:ext cx="4610700" cy="289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1387AB0-C6FA-AF84-4B08-A2DE54B5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957" y="872144"/>
            <a:ext cx="26356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CHB-MIT Scalp EEG Database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7BA80-E462-D8BE-86D8-A3D9701A4DBF}"/>
              </a:ext>
            </a:extLst>
          </p:cNvPr>
          <p:cNvSpPr txBox="1"/>
          <p:nvPr/>
        </p:nvSpPr>
        <p:spPr>
          <a:xfrm>
            <a:off x="522514" y="1179921"/>
            <a:ext cx="7576457" cy="45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Children's Hospital Boston &amp; MIT (PhysioNet)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Subjects: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23 pediatric patients with intractable epilepsy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Channels: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23 EEG channels (International 10-20 system)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Rate: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256 Hz, 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Resolution: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16-bit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Recording: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Patient `chb01`, File `chb01_03.edf`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Total duration: 3600 seconds (1 hour)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Seizure event: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2996s to 3036s (40 seconds)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Window: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2800s to 3100s (300 seconds = 5 minutes)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- 196 seconds of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activity before seizure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- 40 seconds of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seizure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activity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- 64 seconds of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activity after seizure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 Used: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FP1-F7 (frontal lobe — highly sensitive to seizure activity)</a:t>
            </a:r>
          </a:p>
          <a:p>
            <a:pPr>
              <a:lnSpc>
                <a:spcPct val="150000"/>
              </a:lnSpc>
              <a:buNone/>
            </a:pPr>
            <a:b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026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6A3A5693-2FAE-4B8D-CB44-FD8604C8B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3c51966a9_0_95">
            <a:extLst>
              <a:ext uri="{FF2B5EF4-FFF2-40B4-BE49-F238E27FC236}">
                <a16:creationId xmlns:a16="http://schemas.microsoft.com/office/drawing/2014/main" id="{9C2E782F-25AE-3EF2-3D24-E603F1517B85}"/>
              </a:ext>
            </a:extLst>
          </p:cNvPr>
          <p:cNvSpPr txBox="1"/>
          <p:nvPr/>
        </p:nvSpPr>
        <p:spPr>
          <a:xfrm>
            <a:off x="2040349" y="256445"/>
            <a:ext cx="4610700" cy="289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4F72D-06E5-4733-A0BF-C37D6815F2ED}"/>
              </a:ext>
            </a:extLst>
          </p:cNvPr>
          <p:cNvSpPr txBox="1"/>
          <p:nvPr/>
        </p:nvSpPr>
        <p:spPr>
          <a:xfrm>
            <a:off x="2547257" y="887826"/>
            <a:ext cx="4572000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Simulation Results — </a:t>
            </a: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XSim</a:t>
            </a:r>
            <a:endParaRPr lang="en-US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41D3E-D051-99CE-4D76-BA0814D88232}"/>
              </a:ext>
            </a:extLst>
          </p:cNvPr>
          <p:cNvSpPr txBox="1"/>
          <p:nvPr/>
        </p:nvSpPr>
        <p:spPr>
          <a:xfrm>
            <a:off x="261257" y="3669934"/>
            <a:ext cx="4572000" cy="13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Show the entire 5-minute simulation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`</a:t>
            </a: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seizure_detected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` remains LOW during normal activity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`</a:t>
            </a: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seizure_detected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` goes HIGH during the seizure window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`</a:t>
            </a: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seizure_detected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` returns LOW after seizure ends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3CB049-C63C-3C76-EA26-458C1728D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78" y="1347502"/>
            <a:ext cx="4764505" cy="21359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05A08C-707B-E508-99E5-703D7D96E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278" y="1454928"/>
            <a:ext cx="4118596" cy="2028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2761FA-8612-E97F-AAA9-F26146A02159}"/>
              </a:ext>
            </a:extLst>
          </p:cNvPr>
          <p:cNvSpPr txBox="1"/>
          <p:nvPr/>
        </p:nvSpPr>
        <p:spPr>
          <a:xfrm>
            <a:off x="4977278" y="3557956"/>
            <a:ext cx="4118596" cy="1992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`</a:t>
            </a: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spike_count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` gradually increasing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Show the exact moment `</a:t>
            </a: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spike_count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` crosses threshold of 25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Show `</a:t>
            </a:r>
            <a:r>
              <a:rPr lang="en-US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seizure_detected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` transitioning from 0 → 1</a:t>
            </a:r>
          </a:p>
          <a:p>
            <a:pPr>
              <a:lnSpc>
                <a:spcPct val="150000"/>
              </a:lnSpc>
              <a:buNone/>
            </a:pPr>
            <a:b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101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3c51966a9_0_136"/>
          <p:cNvSpPr txBox="1"/>
          <p:nvPr/>
        </p:nvSpPr>
        <p:spPr>
          <a:xfrm>
            <a:off x="2054099" y="366448"/>
            <a:ext cx="4610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b3c51966a9_0_136"/>
          <p:cNvSpPr txBox="1"/>
          <p:nvPr/>
        </p:nvSpPr>
        <p:spPr>
          <a:xfrm>
            <a:off x="477000" y="730873"/>
            <a:ext cx="8190000" cy="314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and simulated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epileptic seizure detection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Verilog HDL on Xilinx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Sliding Window Spike Counter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provides robust detection by requiring sustained abnormal activity, effectively filtering random noise and artifacts.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simulation using real patient data from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CHB-MIT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confirms: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Correct detection during seizure periods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Zero false alarms during normal brain activity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Clean state transitions at seizure onset and offset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consumes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than 3% of FPGA resources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highly scalable.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simulation-first methodology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design correctness before hardware deployment, reducing debugging time and risk.</a:t>
            </a:r>
          </a:p>
        </p:txBody>
      </p:sp>
      <p:sp>
        <p:nvSpPr>
          <p:cNvPr id="2" name="Google Shape;149;g3b3c51966a9_0_136"/>
          <p:cNvSpPr txBox="1"/>
          <p:nvPr/>
        </p:nvSpPr>
        <p:spPr>
          <a:xfrm>
            <a:off x="477000" y="3801457"/>
            <a:ext cx="81900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Zero false positives during the 196-second normal activity period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Seizure correctly detected within the known seizure window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Clean ON/OFF transitions with no flickering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33CA38DD-9F7A-9B54-D96F-929209B32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3c51966a9_0_136">
            <a:extLst>
              <a:ext uri="{FF2B5EF4-FFF2-40B4-BE49-F238E27FC236}">
                <a16:creationId xmlns:a16="http://schemas.microsoft.com/office/drawing/2014/main" id="{EB426DA8-E55F-5DE6-7CFA-80783E6CF01F}"/>
              </a:ext>
            </a:extLst>
          </p:cNvPr>
          <p:cNvSpPr txBox="1"/>
          <p:nvPr/>
        </p:nvSpPr>
        <p:spPr>
          <a:xfrm>
            <a:off x="2054099" y="366448"/>
            <a:ext cx="4610700" cy="289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g3b3c51966a9_0_136">
            <a:extLst>
              <a:ext uri="{FF2B5EF4-FFF2-40B4-BE49-F238E27FC236}">
                <a16:creationId xmlns:a16="http://schemas.microsoft.com/office/drawing/2014/main" id="{81D4C744-59DD-8D04-AFD1-4B9C2C1651B7}"/>
              </a:ext>
            </a:extLst>
          </p:cNvPr>
          <p:cNvSpPr txBox="1"/>
          <p:nvPr/>
        </p:nvSpPr>
        <p:spPr>
          <a:xfrm>
            <a:off x="396195" y="1001181"/>
            <a:ext cx="8190000" cy="468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Deployment: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the verified design onto the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FPGA board with LED and 7-segment display outputs.</a:t>
            </a:r>
          </a:p>
          <a:p>
            <a:pPr algn="just"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Multi-Channel Processing: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design to process multiple EEG channels simultaneously for improved accuracy.</a:t>
            </a:r>
          </a:p>
          <a:p>
            <a:pPr algn="just"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Algorithms: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frequency-domain features (FFT/Wavelet Transform) for more sophisticated classification.</a:t>
            </a:r>
          </a:p>
          <a:p>
            <a:pPr algn="just"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Integration: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a lightweight neural network classifier on FPGA for higher sensitivity.</a:t>
            </a:r>
          </a:p>
          <a:p>
            <a:pPr algn="just"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ADC Interface: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an Analog-to-Digital Converter for live EEG signal acquisition.</a:t>
            </a:r>
          </a:p>
          <a:p>
            <a:pPr algn="just"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Validation: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with additional patients from the CHB-MIT database and the University of Bonn dataset.</a:t>
            </a:r>
          </a:p>
          <a:p>
            <a:pPr algn="just"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Optimization: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 Xilinx Spartan or Lattice iCE40 FPGAs for ultra-low-power wearable applications.</a:t>
            </a:r>
          </a:p>
          <a:p>
            <a:pPr algn="just">
              <a:lnSpc>
                <a:spcPct val="150000"/>
              </a:lnSpc>
            </a:pP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330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1379</Words>
  <Application>Microsoft Office PowerPoint</Application>
  <PresentationFormat>On-screen Show (16:9)</PresentationFormat>
  <Paragraphs>149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Cambria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Test</dc:creator>
  <cp:lastModifiedBy>Rashmitha Rani</cp:lastModifiedBy>
  <cp:revision>9</cp:revision>
  <dcterms:modified xsi:type="dcterms:W3CDTF">2026-05-05T06:52:50Z</dcterms:modified>
</cp:coreProperties>
</file>